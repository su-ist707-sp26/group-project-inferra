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raciOXHTx/EhYhHSI6knlcTiP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000000"/>
                </a:solidFill>
                <a:latin typeface="Arial"/>
              </a:rPr>
              <a:t>AUC vs Forecast Horizon - AUS COVID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8.0248589615953173E-2"/>
          <c:y val="0.10539944225721785"/>
          <c:w val="0.89341041421546441"/>
          <c:h val="0.7208904746281714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AUS COVID (Logistic Regression)</c:v>
                </c:pt>
              </c:strCache>
            </c:strRef>
          </c:tx>
          <c:spPr>
            <a:ln w="38100" cap="flat">
              <a:solidFill>
                <a:srgbClr val="0077C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7CC"/>
              </a:solidFill>
              <a:ln w="9525" cap="flat">
                <a:solidFill>
                  <a:srgbClr val="0077CC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1wk</c:v>
                </c:pt>
                <c:pt idx="1">
                  <c:v>2wk</c:v>
                </c:pt>
                <c:pt idx="2">
                  <c:v>3wk</c:v>
                </c:pt>
                <c:pt idx="3">
                  <c:v>4wk</c:v>
                </c:pt>
                <c:pt idx="4">
                  <c:v>6wk</c:v>
                </c:pt>
                <c:pt idx="5">
                  <c:v>8wk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0.97599999999999998</c:v>
                </c:pt>
                <c:pt idx="1">
                  <c:v>0.90700000000000003</c:v>
                </c:pt>
                <c:pt idx="2">
                  <c:v>0.80900000000000005</c:v>
                </c:pt>
                <c:pt idx="3">
                  <c:v>0.71</c:v>
                </c:pt>
                <c:pt idx="4">
                  <c:v>0.57899999999999996</c:v>
                </c:pt>
                <c:pt idx="5">
                  <c:v>0.44600000000000001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C9-430F-8AD9-79CAEC7CF5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AUC=0.7 (actionable)</c:v>
                </c:pt>
              </c:strCache>
            </c:strRef>
          </c:tx>
          <c:spPr>
            <a:ln w="38100" cap="flat">
              <a:solidFill>
                <a:srgbClr val="16A3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1wk</c:v>
                </c:pt>
                <c:pt idx="1">
                  <c:v>2wk</c:v>
                </c:pt>
                <c:pt idx="2">
                  <c:v>3wk</c:v>
                </c:pt>
                <c:pt idx="3">
                  <c:v>4wk</c:v>
                </c:pt>
                <c:pt idx="4">
                  <c:v>6wk</c:v>
                </c:pt>
                <c:pt idx="5">
                  <c:v>8wk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</c:v>
                </c:pt>
                <c:pt idx="1">
                  <c:v>0.7</c:v>
                </c:pt>
                <c:pt idx="2">
                  <c:v>0.7</c:v>
                </c:pt>
                <c:pt idx="3">
                  <c:v>0.7</c:v>
                </c:pt>
                <c:pt idx="4">
                  <c:v>0.7</c:v>
                </c:pt>
                <c:pt idx="5">
                  <c:v>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C9-430F-8AD9-79CAEC7CF5B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AUC=0.5 (random)</c:v>
                </c:pt>
              </c:strCache>
            </c:strRef>
          </c:tx>
          <c:spPr>
            <a:ln w="38100" cap="flat">
              <a:solidFill>
                <a:srgbClr val="D1D5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1D5DB"/>
              </a:solidFill>
              <a:ln w="9525" cap="flat">
                <a:solidFill>
                  <a:srgbClr val="D1D5D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1wk</c:v>
                </c:pt>
                <c:pt idx="1">
                  <c:v>2wk</c:v>
                </c:pt>
                <c:pt idx="2">
                  <c:v>3wk</c:v>
                </c:pt>
                <c:pt idx="3">
                  <c:v>4wk</c:v>
                </c:pt>
                <c:pt idx="4">
                  <c:v>6wk</c:v>
                </c:pt>
                <c:pt idx="5">
                  <c:v>8wk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5C9-430F-8AD9-79CAEC7CF5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9a84c8f8a_5_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d9a84c8f8a_5_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d9a84c8f8a_5_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inferra-ihhg8qzykkuu2hojnkslmz.streamlit.app/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INFERRA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BFB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93BBFB"/>
                </a:solidFill>
                <a:latin typeface="Calibri"/>
                <a:ea typeface="Calibri"/>
                <a:cs typeface="Calibri"/>
                <a:sym typeface="Calibri"/>
              </a:rPr>
              <a:t>Infectious Disease Surge Early Warning System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731536" y="2194539"/>
            <a:ext cx="7413300" cy="45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31520" y="256032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Jayesh Sawarkar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31520" y="292608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Roshni More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31520" y="3291840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Insha Maniyar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379476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FA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7B8FAF"/>
                </a:solidFill>
                <a:latin typeface="Calibri"/>
                <a:ea typeface="Calibri"/>
                <a:cs typeface="Calibri"/>
                <a:sym typeface="Calibri"/>
              </a:rPr>
              <a:t>IST 707  Applied Machine Learning  |  Prof. Joshua Introne  |  Spring 2025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548640" y="457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Problem &amp; Stakeholder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066075" y="822950"/>
            <a:ext cx="3605700" cy="10059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55349" rotWithShape="0" algn="bl" dir="8100000" dist="18450">
              <a:srgbClr val="000000">
                <a:alpha val="12156"/>
              </a:srgbClr>
            </a:outerShdw>
          </a:effectLst>
        </p:spPr>
        <p:txBody>
          <a:bodyPr anchorCtr="0" anchor="t" bIns="33200" lIns="66400" spcFirstLastPara="1" rIns="66400" wrap="square" tIns="3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337709" y="847389"/>
            <a:ext cx="34404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200" lIns="66400" spcFirstLastPara="1" rIns="66400" wrap="square" tIns="3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BFB"/>
              </a:buClr>
              <a:buSzPts val="799"/>
              <a:buFont typeface="Calibri"/>
              <a:buNone/>
            </a:pPr>
            <a:r>
              <a:rPr b="1" lang="en-US" sz="799">
                <a:solidFill>
                  <a:srgbClr val="93BBFB"/>
                </a:solidFill>
                <a:latin typeface="Calibri"/>
                <a:ea typeface="Calibri"/>
                <a:cs typeface="Calibri"/>
                <a:sym typeface="Calibri"/>
              </a:rPr>
              <a:t>Primary Stakeholder</a:t>
            </a:r>
            <a:endParaRPr sz="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337709" y="998264"/>
            <a:ext cx="34404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200" lIns="66400" spcFirstLastPara="1" rIns="66400" wrap="square" tIns="3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2"/>
              <a:buFont typeface="Georgia"/>
              <a:buNone/>
            </a:pPr>
            <a:r>
              <a:rPr b="1" lang="en-US" sz="1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Public Health Authorities(</a:t>
            </a:r>
            <a:r>
              <a:rPr b="1" lang="en-US" sz="1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CDNA State Health Dept.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Surge Officers)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337700" y="1275575"/>
            <a:ext cx="24813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200" lIns="66400" spcFirstLastPara="1" rIns="66400" wrap="square" tIns="3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6"/>
              <a:buFont typeface="Calibri"/>
              <a:buNone/>
            </a:pPr>
            <a:r>
              <a:rPr lang="en-US" sz="726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Need: 1-2 week advance notice of RSV/influenza</a:t>
            </a:r>
            <a:endParaRPr sz="7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6"/>
              <a:buFont typeface="Calibri"/>
              <a:buNone/>
            </a:pPr>
            <a:r>
              <a:rPr lang="en-US" sz="726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surges to pre-position pediatric antiviral stockpiles</a:t>
            </a:r>
            <a:endParaRPr sz="7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6"/>
              <a:buFont typeface="Calibri"/>
              <a:buNone/>
            </a:pPr>
            <a:r>
              <a:rPr lang="en-US" sz="726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and activate hospital surge protocols before bed</a:t>
            </a:r>
            <a:endParaRPr sz="7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6"/>
              <a:buFont typeface="Calibri"/>
              <a:buNone/>
            </a:pPr>
            <a:r>
              <a:rPr lang="en-US" sz="726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capacity is breached.</a:t>
            </a:r>
            <a:endParaRPr sz="7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822960"/>
            <a:ext cx="4389120" cy="10058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80" y="89611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THE TIMING GAP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40080" y="114300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Surges peak 2-4 weeks AFTER they begin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Hospitals overwhelmed before agencies respond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advance warning before bed overload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1965960"/>
            <a:ext cx="4389120" cy="10058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40080" y="203911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FRAGMENTED DATA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40080" y="228600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COVID in WHO, RSV in NNDSS, NZ in PHF Science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unified model across diseases or sources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Agencies cannot act on fragmented signals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3108960"/>
            <a:ext cx="4389120" cy="100584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0080" y="318211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GEOGRAPHIC BLIND SPOT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0080" y="342900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Surges move: NSW &gt; VIC &gt; QLD &gt; SA (2-8 weeks)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NSW Granger-causes VIC RSV, 4-wk lead (p=0.002)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Signal exists in NNDSS data, completely unused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0" y="4389120"/>
            <a:ext cx="9144000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Every week of delay = overcrowded hospitals, missed antiviral windows, preventable deaths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066075" y="1965925"/>
            <a:ext cx="3605700" cy="10059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55349" rotWithShape="0" algn="bl" dir="8100000" dist="18450">
              <a:srgbClr val="000000">
                <a:alpha val="12160"/>
              </a:srgbClr>
            </a:outerShdw>
          </a:effectLst>
        </p:spPr>
        <p:txBody>
          <a:bodyPr anchorCtr="0" anchor="t" bIns="33200" lIns="66400" spcFirstLastPara="1" rIns="66400" wrap="square" tIns="3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337709" y="1990364"/>
            <a:ext cx="34404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200" lIns="66400" spcFirstLastPara="1" rIns="66400" wrap="square" tIns="3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BFB"/>
              </a:buClr>
              <a:buSzPts val="799"/>
              <a:buFont typeface="Calibri"/>
              <a:buNone/>
            </a:pPr>
            <a:r>
              <a:rPr b="1" lang="en-US" sz="799">
                <a:solidFill>
                  <a:srgbClr val="93BBFB"/>
                </a:solidFill>
                <a:latin typeface="Calibri"/>
                <a:ea typeface="Calibri"/>
                <a:cs typeface="Calibri"/>
                <a:sym typeface="Calibri"/>
              </a:rPr>
              <a:t>Secondary</a:t>
            </a:r>
            <a:r>
              <a:rPr b="1" lang="en-US" sz="799">
                <a:solidFill>
                  <a:srgbClr val="93BBFB"/>
                </a:solidFill>
                <a:latin typeface="Calibri"/>
                <a:ea typeface="Calibri"/>
                <a:cs typeface="Calibri"/>
                <a:sym typeface="Calibri"/>
              </a:rPr>
              <a:t> Stakeholder</a:t>
            </a:r>
            <a:endParaRPr sz="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337709" y="2141239"/>
            <a:ext cx="34404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200" lIns="66400" spcFirstLastPara="1" rIns="66400" wrap="square" tIns="3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2"/>
              <a:buFont typeface="Georgia"/>
              <a:buNone/>
            </a:pPr>
            <a:r>
              <a:rPr b="1" lang="en-US" sz="1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Epidemiologists &amp; Researchers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337700" y="2418547"/>
            <a:ext cx="28860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200" lIns="66400" spcFirstLastPara="1" rIns="66400" wrap="square" tIns="3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6"/>
              <a:buFont typeface="Calibri"/>
              <a:buNone/>
            </a:pPr>
            <a:r>
              <a:rPr lang="en-US" sz="726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Validated cross-disease/cross-country ML framework for outbreak forecasting research.</a:t>
            </a:r>
            <a:endParaRPr sz="7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066075" y="3139838"/>
            <a:ext cx="3605700" cy="100590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55349" rotWithShape="0" algn="bl" dir="8100000" dist="18450">
              <a:srgbClr val="000000">
                <a:alpha val="12160"/>
              </a:srgbClr>
            </a:outerShdw>
          </a:effectLst>
        </p:spPr>
        <p:txBody>
          <a:bodyPr anchorCtr="0" anchor="t" bIns="33200" lIns="66400" spcFirstLastPara="1" rIns="66400" wrap="square" tIns="3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337709" y="3164277"/>
            <a:ext cx="34404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200" lIns="66400" spcFirstLastPara="1" rIns="66400" wrap="square" tIns="3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BBFB"/>
              </a:buClr>
              <a:buSzPts val="799"/>
              <a:buFont typeface="Calibri"/>
              <a:buNone/>
            </a:pPr>
            <a:r>
              <a:rPr b="1" lang="en-US" sz="799">
                <a:solidFill>
                  <a:srgbClr val="93BBFB"/>
                </a:solidFill>
                <a:latin typeface="Calibri"/>
                <a:ea typeface="Calibri"/>
                <a:cs typeface="Calibri"/>
                <a:sym typeface="Calibri"/>
              </a:rPr>
              <a:t>Indirect</a:t>
            </a:r>
            <a:r>
              <a:rPr b="1" lang="en-US" sz="799">
                <a:solidFill>
                  <a:srgbClr val="93BBFB"/>
                </a:solidFill>
                <a:latin typeface="Calibri"/>
                <a:ea typeface="Calibri"/>
                <a:cs typeface="Calibri"/>
                <a:sym typeface="Calibri"/>
              </a:rPr>
              <a:t> Stakeholder</a:t>
            </a:r>
            <a:endParaRPr sz="7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337709" y="3315151"/>
            <a:ext cx="34404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200" lIns="66400" spcFirstLastPara="1" rIns="66400" wrap="square" tIns="3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2"/>
              <a:buFont typeface="Georgia"/>
              <a:buNone/>
            </a:pPr>
            <a:r>
              <a:rPr b="1" lang="en-US" sz="1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General Public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337700" y="3543378"/>
            <a:ext cx="293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200" lIns="66400" spcFirstLastPara="1" rIns="66400" wrap="square" tIns="3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C4DE"/>
              </a:buClr>
              <a:buSzPts val="726"/>
              <a:buFont typeface="Calibri"/>
              <a:buNone/>
            </a:pPr>
            <a:r>
              <a:rPr lang="en-US" sz="726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Timely public advisories, reduced hospital overcrowding, better resource allocation during surges.</a:t>
            </a:r>
            <a:endParaRPr sz="7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48640" y="457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Envisioned Solution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1" lang="en-US" sz="13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Train once on COVID globally. Generalize to any disease, any country, without retraining.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274320" y="1280160"/>
            <a:ext cx="1600200" cy="292608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22960" y="14173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22960" y="1417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20040" y="201168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Train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20040" y="233172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238 countries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WHO COVID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65760" y="2880360"/>
            <a:ext cx="1417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AUS + NZ fully excluded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Normalized to per 100k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847088" y="22860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029968" y="1280160"/>
            <a:ext cx="1600200" cy="292608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2578608" y="14173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2578608" y="1417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075688" y="201168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Features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075688" y="233172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16 engineered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from raw counts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121408" y="2880360"/>
            <a:ext cx="1417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Rt, lags, rolling stats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Z-score, seasonality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602736" y="22860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785616" y="1280160"/>
            <a:ext cx="1600200" cy="292608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334256" y="14173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334256" y="1417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831336" y="201168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Models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831336" y="233172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4 classifiers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+ regression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877056" y="2880360"/>
            <a:ext cx="1417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LR, RF, GB, XGBoost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SMOTE + RandomizedSearchCV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358384" y="22860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541264" y="1280160"/>
            <a:ext cx="1600200" cy="292608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089904" y="14173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089904" y="1417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586984" y="201168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Test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586984" y="233172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4 holdout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test sets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632704" y="2880360"/>
            <a:ext cx="1417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AUS COVID, AUS RSV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NZ COVID, NZ RSV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114032" y="228600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296912" y="1280160"/>
            <a:ext cx="1600200" cy="292608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7845552" y="14173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845552" y="1417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342632" y="201168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Georgia"/>
              <a:buNone/>
            </a:pPr>
            <a:r>
              <a:rPr b="1" lang="en-US" sz="15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Deploy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7342632" y="2331720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Live Streamlit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7388352" y="2880360"/>
            <a:ext cx="1417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Traffic light system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Plain English advisory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0" y="4343400"/>
            <a:ext cx="9144000" cy="5486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Surge Labelling:  COVID: Rt &gt; 1.2 for 3+ consecutive weeks  |  RSV: Z-score &gt; 1.5 for 2+ weeks  |  Rt = 42% of feature importance  |  No future data leakage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3366"/>
          </a:solidFill>
          <a:ln cap="flat" cmpd="sng" w="12700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274320" y="822960"/>
            <a:ext cx="4114800" cy="1920240"/>
          </a:xfrm>
          <a:prstGeom prst="rect">
            <a:avLst/>
          </a:prstGeom>
          <a:solidFill>
            <a:srgbClr val="EFF6FF"/>
          </a:solidFill>
          <a:ln cap="flat" cmpd="sng" w="19050">
            <a:solidFill>
              <a:srgbClr val="0077C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74320" y="822960"/>
            <a:ext cx="109728" cy="1920240"/>
          </a:xfrm>
          <a:prstGeom prst="rect">
            <a:avLst/>
          </a:prstGeom>
          <a:solidFill>
            <a:srgbClr val="0077CC"/>
          </a:solidFill>
          <a:ln cap="flat" cmpd="sng" w="12700">
            <a:solidFill>
              <a:srgbClr val="007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CC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077CC"/>
                </a:solidFill>
                <a:latin typeface="Calibri"/>
                <a:ea typeface="Calibri"/>
                <a:cs typeface="Calibri"/>
                <a:sym typeface="Calibri"/>
              </a:rPr>
              <a:t>🌍  </a:t>
            </a:r>
            <a:r>
              <a:rPr b="1" lang="en-US" sz="1600">
                <a:solidFill>
                  <a:srgbClr val="0077CC"/>
                </a:solidFill>
                <a:latin typeface="Calibri"/>
                <a:ea typeface="Calibri"/>
                <a:cs typeface="Calibri"/>
                <a:sym typeface="Calibri"/>
              </a:rPr>
              <a:t>WHO COVID-19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57200" y="1325880"/>
            <a:ext cx="38404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240 countries · weekly · Jan 2020 – Jan 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~75,840 rows after preprocessing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Normalised to cases-per-100k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Train: 238 countries (AUS + NZ excluded)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709160" y="822960"/>
            <a:ext cx="4114800" cy="1920240"/>
          </a:xfrm>
          <a:prstGeom prst="rect">
            <a:avLst/>
          </a:prstGeom>
          <a:solidFill>
            <a:srgbClr val="F0FDF4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709160" y="822960"/>
            <a:ext cx="109728" cy="192024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892040" y="9144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🏥  </a:t>
            </a:r>
            <a:r>
              <a:rPr b="1" lang="en-US" sz="16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AUS NNDSS (RSV)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892040" y="1325880"/>
            <a:ext cx="38404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RSV · 5 states · fortnightly · 2017–2024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50+ Excel files → clean time series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 years of RSV history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2: AUS RSV cross-disease evaluation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274320" y="2926080"/>
            <a:ext cx="4114800" cy="1920240"/>
          </a:xfrm>
          <a:prstGeom prst="rect">
            <a:avLst/>
          </a:prstGeom>
          <a:solidFill>
            <a:srgbClr val="F5F3FF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274320" y="2926080"/>
            <a:ext cx="109728" cy="19202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57200" y="30175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PHF Science NZ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57200" y="3429000"/>
            <a:ext cx="38404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RSV · weekly · 2022–2025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Custom scraper: NZ_Airborne_Disease_Scraper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6 diseases: RSV · Flu A/B · hMPV · RV · AdV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4: NZ RSV (cross-disease + cross-country)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709160" y="2926080"/>
            <a:ext cx="4114800" cy="1920240"/>
          </a:xfrm>
          <a:prstGeom prst="rect">
            <a:avLst/>
          </a:prstGeom>
          <a:solidFill>
            <a:srgbClr val="FFFBEB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709160" y="2926080"/>
            <a:ext cx="109728" cy="19202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892040" y="30175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👥  </a:t>
            </a:r>
            <a:r>
              <a:rPr b="1" lang="en-US" sz="16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Population (World Bank)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892040" y="3429000"/>
            <a:ext cx="38404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AUS: 26,473,055  ·  NZ: 5,223,100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2023 estimates · matched by country name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Removes country-size bias from raw counts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Enables direct AUS ↔ NZ surge comparison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228600" y="91440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— Precision, Recall &amp; Model Comparison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228600" y="658368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Precision &amp; Recall by Test</a:t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228600" y="969264"/>
            <a:ext cx="2029968" cy="1554480"/>
          </a:xfrm>
          <a:prstGeom prst="rect">
            <a:avLst/>
          </a:prstGeom>
          <a:solidFill>
            <a:srgbClr val="EFF6FF"/>
          </a:solidFill>
          <a:ln cap="flat" cmpd="sng" w="19050">
            <a:solidFill>
              <a:srgbClr val="0077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28600" y="969264"/>
            <a:ext cx="2029968" cy="2743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228600" y="987552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1  AUS COVID</a:t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20040" y="1298448"/>
            <a:ext cx="914400" cy="384048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320040" y="1316736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077CC"/>
                </a:solidFill>
                <a:latin typeface="Calibri"/>
                <a:ea typeface="Calibri"/>
                <a:cs typeface="Calibri"/>
                <a:sym typeface="Calibri"/>
              </a:rPr>
              <a:t>1.000</a:t>
            </a: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320040" y="153619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AUC</a:t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1298448" y="1298448"/>
            <a:ext cx="914400" cy="384048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1298448" y="1316736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1.000</a:t>
            </a:r>
            <a:endParaRPr/>
          </a:p>
        </p:txBody>
      </p:sp>
      <p:sp>
        <p:nvSpPr>
          <p:cNvPr id="131" name="Google Shape;131;p5"/>
          <p:cNvSpPr txBox="1"/>
          <p:nvPr/>
        </p:nvSpPr>
        <p:spPr>
          <a:xfrm>
            <a:off x="1298448" y="153619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320040" y="1737360"/>
            <a:ext cx="914400" cy="384048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320040" y="1755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077CC"/>
                </a:solidFill>
                <a:latin typeface="Calibri"/>
                <a:ea typeface="Calibri"/>
                <a:cs typeface="Calibri"/>
                <a:sym typeface="Calibri"/>
              </a:rPr>
              <a:t>1.000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320040" y="1975104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Prec</a:t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1298448" y="1737360"/>
            <a:ext cx="914400" cy="384048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1298448" y="1755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1.000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1298448" y="1975104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2404872" y="969264"/>
            <a:ext cx="2029968" cy="1554480"/>
          </a:xfrm>
          <a:prstGeom prst="rect">
            <a:avLst/>
          </a:prstGeom>
          <a:solidFill>
            <a:srgbClr val="F0FDF4"/>
          </a:solidFill>
          <a:ln cap="flat" cmpd="sng" w="19050">
            <a:solidFill>
              <a:srgbClr val="16A3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2404872" y="969264"/>
            <a:ext cx="2029968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2404872" y="987552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2  AUS RSV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2496312" y="1298448"/>
            <a:ext cx="914400" cy="384048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2496312" y="1316736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0.923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2496312" y="153619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AUC</a:t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3474720" y="1298448"/>
            <a:ext cx="914400" cy="384048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3474720" y="1316736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0.848</a:t>
            </a:r>
            <a:endParaRPr/>
          </a:p>
        </p:txBody>
      </p:sp>
      <p:sp>
        <p:nvSpPr>
          <p:cNvPr id="146" name="Google Shape;146;p5"/>
          <p:cNvSpPr txBox="1"/>
          <p:nvPr/>
        </p:nvSpPr>
        <p:spPr>
          <a:xfrm>
            <a:off x="3474720" y="153619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2496312" y="1737360"/>
            <a:ext cx="914400" cy="384048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2496312" y="1755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0.871</a:t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2496312" y="1975104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Prec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3474720" y="1737360"/>
            <a:ext cx="914400" cy="384048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3474720" y="1755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0.826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3474720" y="1975104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4581144" y="969264"/>
            <a:ext cx="2029968" cy="1554480"/>
          </a:xfrm>
          <a:prstGeom prst="rect">
            <a:avLst/>
          </a:prstGeom>
          <a:solidFill>
            <a:srgbClr val="F0FDF4"/>
          </a:solidFill>
          <a:ln cap="flat" cmpd="sng" w="19050">
            <a:solidFill>
              <a:srgbClr val="16A3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581144" y="969264"/>
            <a:ext cx="2029968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4581144" y="987552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3  NZ COVID</a:t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4672583" y="1298448"/>
            <a:ext cx="914400" cy="384048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4672583" y="1316736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0.971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4672583" y="153619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AUC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5650992" y="1298448"/>
            <a:ext cx="914400" cy="384048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5650992" y="1316736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0.767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5650992" y="153619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4672583" y="1737360"/>
            <a:ext cx="914400" cy="384048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4672583" y="1755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0.911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4672583" y="1975104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Prec</a:t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5650992" y="1737360"/>
            <a:ext cx="914400" cy="384048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5650992" y="1755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0.662</a:t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5650992" y="1975104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6757416" y="969264"/>
            <a:ext cx="2029968" cy="1554480"/>
          </a:xfrm>
          <a:prstGeom prst="rect">
            <a:avLst/>
          </a:prstGeom>
          <a:solidFill>
            <a:srgbClr val="FFFBEB"/>
          </a:solidFill>
          <a:ln cap="flat" cmpd="sng" w="19050">
            <a:solidFill>
              <a:srgbClr val="D9770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757416" y="969264"/>
            <a:ext cx="2029968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6757416" y="987552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4  NZ RSV</a:t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6848855" y="1298448"/>
            <a:ext cx="914400" cy="384048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6848855" y="1316736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0.545</a:t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6848855" y="153619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AUC</a:t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7827263" y="1298448"/>
            <a:ext cx="914400" cy="384048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7827263" y="1316736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0.868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7827263" y="153619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6848855" y="1737360"/>
            <a:ext cx="914400" cy="384048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6848855" y="1755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0.766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6848855" y="1975104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Prec</a:t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7827263" y="1737360"/>
            <a:ext cx="914400" cy="384048"/>
          </a:xfrm>
          <a:prstGeom prst="rect">
            <a:avLst/>
          </a:prstGeom>
          <a:solidFill>
            <a:srgbClr val="F8FAFC"/>
          </a:solidFill>
          <a:ln cap="flat" cmpd="sng" w="10150">
            <a:solidFill>
              <a:srgbClr val="CBD5E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7827263" y="17556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1.000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7827263" y="1975104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228600" y="301752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Which Model Works Best?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228600" y="3328416"/>
            <a:ext cx="5074920" cy="329184"/>
          </a:xfrm>
          <a:prstGeom prst="rect">
            <a:avLst/>
          </a:prstGeom>
          <a:solidFill>
            <a:srgbClr val="F1F5F9"/>
          </a:solidFill>
          <a:ln cap="flat" cmpd="sng" w="15225">
            <a:solidFill>
              <a:srgbClr val="16A3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228600" y="3328416"/>
            <a:ext cx="64008" cy="3291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365760" y="335584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1828800" y="335584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BEST cross-disease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3063240" y="3355848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AUC 0.923 (RSV)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4160520" y="335584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★ Simpler = more transferable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228600" y="3694176"/>
            <a:ext cx="5074920" cy="329184"/>
          </a:xfrm>
          <a:prstGeom prst="rect">
            <a:avLst/>
          </a:prstGeom>
          <a:solidFill>
            <a:srgbClr val="F1F5F9"/>
          </a:solidFill>
          <a:ln cap="flat" cmpd="sng" w="15225">
            <a:solidFill>
              <a:srgbClr val="0077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228600" y="3694176"/>
            <a:ext cx="64008" cy="32918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365760" y="372160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1828800" y="372160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0077CC"/>
                </a:solidFill>
                <a:latin typeface="Calibri"/>
                <a:ea typeface="Calibri"/>
                <a:cs typeface="Calibri"/>
                <a:sym typeface="Calibri"/>
              </a:rPr>
              <a:t>BEST in-region</a:t>
            </a:r>
            <a:endParaRPr/>
          </a:p>
        </p:txBody>
      </p:sp>
      <p:sp>
        <p:nvSpPr>
          <p:cNvPr id="194" name="Google Shape;194;p5"/>
          <p:cNvSpPr txBox="1"/>
          <p:nvPr/>
        </p:nvSpPr>
        <p:spPr>
          <a:xfrm>
            <a:off x="3063240" y="3721608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AUC 1.000 (COVID)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4160520" y="3721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Tuned ensembles overfit</a:t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228600" y="4059936"/>
            <a:ext cx="5074920" cy="329184"/>
          </a:xfrm>
          <a:prstGeom prst="rect">
            <a:avLst/>
          </a:prstGeom>
          <a:solidFill>
            <a:srgbClr val="F1F5F9"/>
          </a:solidFill>
          <a:ln cap="flat" cmpd="sng" w="15225">
            <a:solidFill>
              <a:srgbClr val="7C3AE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228600" y="4059936"/>
            <a:ext cx="64008" cy="32918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365760" y="408736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1828800" y="408736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Strong geographic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3063240" y="4087368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AUC 0.993 (NZ)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4160520" y="408736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Good country transfer</a:t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228600" y="4425696"/>
            <a:ext cx="5074920" cy="329184"/>
          </a:xfrm>
          <a:prstGeom prst="rect">
            <a:avLst/>
          </a:prstGeom>
          <a:solidFill>
            <a:srgbClr val="F1F5F9"/>
          </a:solidFill>
          <a:ln cap="flat" cmpd="sng" w="15225">
            <a:solidFill>
              <a:srgbClr val="D9770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228600" y="4425696"/>
            <a:ext cx="64008" cy="32918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365760" y="445312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1828800" y="445312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Regularised</a:t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3063240" y="4453128"/>
            <a:ext cx="10789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AUC 0.990 (NZ)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4160520" y="445312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Similar to GB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5440680" y="25420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How Reliable Are the Results?</a:t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5440680" y="2852928"/>
            <a:ext cx="3474720" cy="841248"/>
          </a:xfrm>
          <a:prstGeom prst="rect">
            <a:avLst/>
          </a:prstGeom>
          <a:solidFill>
            <a:srgbClr val="F0FDF4"/>
          </a:solidFill>
          <a:ln cap="flat" cmpd="sng" w="15225">
            <a:solidFill>
              <a:srgbClr val="16A34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5577840" y="2889504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Bootstrap 95% CI  —  AUS RSV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5577840" y="312724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AUC = 0.923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6858000" y="3145536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CI: [ 0.815 – 0.997 ]</a:t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5577840" y="336499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1,000 bootstrap samples — result is stable, not a lucky split</a:t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5440680" y="3749039"/>
            <a:ext cx="3474720" cy="1115568"/>
          </a:xfrm>
          <a:prstGeom prst="rect">
            <a:avLst/>
          </a:prstGeom>
          <a:solidFill>
            <a:srgbClr val="FFFBEB"/>
          </a:solidFill>
          <a:ln cap="flat" cmpd="sng" w="15225">
            <a:solidFill>
              <a:srgbClr val="D9770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5577840" y="3785615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Ablation — Does Rₜ Matter?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5577840" y="4059936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With Rₜ     →  AUC = 0.971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5577840" y="4315968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Without Rₜ →  AUC = 0.968</a:t>
            </a:r>
            <a:endParaRPr/>
          </a:p>
        </p:txBody>
      </p:sp>
      <p:sp>
        <p:nvSpPr>
          <p:cNvPr id="218" name="Google Shape;218;p5"/>
          <p:cNvSpPr txBox="1"/>
          <p:nvPr/>
        </p:nvSpPr>
        <p:spPr>
          <a:xfrm>
            <a:off x="5577840" y="4572000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Drop = 0.003  →  lags + z-score carry independent signal</a:t>
            </a:r>
            <a:endParaRPr/>
          </a:p>
        </p:txBody>
      </p:sp>
      <p:sp>
        <p:nvSpPr>
          <p:cNvPr id="219" name="Google Shape;219;p5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228600" y="91440"/>
            <a:ext cx="8686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— Feature Importance &amp; Geographic Signal</a:t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Inferra Dashboard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1" y="658368"/>
            <a:ext cx="5074919" cy="4315968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6"/>
          <p:cNvSpPr txBox="1"/>
          <p:nvPr/>
        </p:nvSpPr>
        <p:spPr>
          <a:xfrm>
            <a:off x="5532121" y="685799"/>
            <a:ext cx="24040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Headline Findings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5382638" y="1011677"/>
            <a:ext cx="3709480" cy="3936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889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Universal epidemic patterns → COVID model predicts RSV without retraining </a:t>
            </a:r>
            <a:endParaRPr/>
          </a:p>
          <a:p>
            <a:pPr indent="-889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Simpler models (Logistic Regression) outperform complex models cross-disease </a:t>
            </a:r>
            <a:endParaRPr/>
          </a:p>
          <a:p>
            <a:pPr indent="-889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warning achieved → reliable 1–2 week prediction window (AUC = 0.84) </a:t>
            </a:r>
            <a:endParaRPr/>
          </a:p>
          <a:p>
            <a:pPr indent="-889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regional signal → NSW leads VIC by ~4 weeks (Granger p = 0.002) </a:t>
            </a:r>
            <a:endParaRPr/>
          </a:p>
          <a:p>
            <a:pPr indent="-889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precision → ~91% accurate alerts (low false alarms) </a:t>
            </a:r>
            <a:endParaRPr/>
          </a:p>
          <a:p>
            <a:pPr indent="-889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Robust validation → zero data leakage (AUS &amp; NZ excluded from training)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3366"/>
          </a:solidFill>
          <a:ln cap="flat" cmpd="sng" w="12700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Initial Results - How Early Can We Warn?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7" name="Google Shape;237;p7"/>
          <p:cNvGraphicFramePr/>
          <p:nvPr/>
        </p:nvGraphicFramePr>
        <p:xfrm>
          <a:off x="274320" y="777239"/>
          <a:ext cx="5303520" cy="3899463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38" name="Google Shape;238;p7"/>
          <p:cNvSpPr/>
          <p:nvPr/>
        </p:nvSpPr>
        <p:spPr>
          <a:xfrm>
            <a:off x="5760720" y="8686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Operational Window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5760720" y="1325880"/>
            <a:ext cx="3063240" cy="7772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5852160" y="1371600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✅  1 week  </a:t>
            </a: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AUC 0.976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852160" y="1728216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Actionable early warning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760720" y="2240280"/>
            <a:ext cx="3063240" cy="7772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5852160" y="2286000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🟡   2 weeks  </a:t>
            </a: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AUC 0.907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852160" y="2642616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Useful 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760720" y="3154680"/>
            <a:ext cx="3063240" cy="7772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5852160" y="3200400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🔴  6+ weeks  </a:t>
            </a: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AUC ~0.5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852160" y="3557016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Random 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760720" y="4206240"/>
            <a:ext cx="3063240" cy="64008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0077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852160" y="4251960"/>
            <a:ext cx="2880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Granger: </a:t>
            </a: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NSW → VIC RSV leads by 4 weeks (p=0.002), structural early warning signal</a:t>
            </a:r>
            <a:endParaRPr b="0" i="0" sz="9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3366"/>
          </a:solidFill>
          <a:ln cap="flat" cmpd="sng" w="12700">
            <a:solidFill>
              <a:srgbClr val="00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65760" y="0"/>
            <a:ext cx="215350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274319" y="777242"/>
            <a:ext cx="4397207" cy="768284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274320" y="777242"/>
            <a:ext cx="82296" cy="76828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03852" y="850392"/>
            <a:ext cx="777240" cy="192896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02920" y="850392"/>
            <a:ext cx="777240" cy="205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EXPLAINED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1403260" y="812634"/>
            <a:ext cx="187029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AUC ≈ 1.0 on AUS COVID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438912" y="1144367"/>
            <a:ext cx="4232612" cy="315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Appeared to be overfitting, actually expected autocorrelation at h=0. Horizon analysis reveals the true picture: AUC drops to 0.654 at 4 weeks. AUC@4wk is now our primary metric.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274320" y="1609481"/>
            <a:ext cx="4397206" cy="734971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274320" y="1615418"/>
            <a:ext cx="82296" cy="729035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503852" y="1684061"/>
            <a:ext cx="777240" cy="181629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503852" y="1661911"/>
            <a:ext cx="777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INVESTIGATED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1400182" y="1614211"/>
            <a:ext cx="16851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RSV June 2024 Anomaly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438912" y="1894124"/>
            <a:ext cx="4232614" cy="39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Checkpoint feedback flagged unusual slope in RSV plot. Investigated via state-level NNDSS data, identified as a reporting correction (negative count) in one NNDSS fortnight, not a real epidemiological event. Documented in notebook.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274320" y="2408419"/>
            <a:ext cx="4397206" cy="768281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288518" y="2408419"/>
            <a:ext cx="64927" cy="768283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40554" y="2480272"/>
            <a:ext cx="777240" cy="193496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532466" y="2471235"/>
            <a:ext cx="777240" cy="207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ADDRESSED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1409099" y="2438676"/>
            <a:ext cx="192058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Cross-Disease F1 = 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38913" y="2731181"/>
            <a:ext cx="4232613" cy="363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COVID-calibrated probability threshold (0.5) was too high for RSV density. Fixed with threshold recalibration (PR curve optimisation). AUS RSV F1: 0.848. NZ RSV F1: 0.868 at optimised threshold.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288518" y="3253892"/>
            <a:ext cx="4383008" cy="768281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288518" y="3253891"/>
            <a:ext cx="68098" cy="768281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512871" y="3318745"/>
            <a:ext cx="777240" cy="196193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502920" y="3321204"/>
            <a:ext cx="777240" cy="196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1403260" y="3275741"/>
            <a:ext cx="15069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NZ RSV Short Baseline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438910" y="3517397"/>
            <a:ext cx="4133090" cy="532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NZ virology data starts 2022 (post-COVID rebound). 76% of weeks labelled as surge, model sees near-constant surge, AUC = 0.545. AUS RSV (8-year baseline) achieves AUC = 0.923 identically. Solution: extend NZ RSV back to pre-2022.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286712" y="4099363"/>
            <a:ext cx="4384811" cy="785702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286714" y="4105993"/>
            <a:ext cx="75064" cy="77907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502920" y="4185444"/>
            <a:ext cx="777240" cy="188286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580053" y="4203837"/>
            <a:ext cx="622974" cy="169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lang="en-US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1403260" y="4097247"/>
            <a:ext cx="221608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Simpler Models Generalise Better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438910" y="4366258"/>
            <a:ext cx="4232614" cy="5142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Tuned RF/XGBoost show lower cross-disease AUC than Logistic Regression. Deeper trees overfit COVID patterns, losing transferability to RSV. Key finding: bias-variance tradeoff across domains, LR best for cross-disease.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 txBox="1"/>
          <p:nvPr/>
        </p:nvSpPr>
        <p:spPr>
          <a:xfrm>
            <a:off x="4870580" y="127456"/>
            <a:ext cx="304177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 &amp; Goals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8306" y="1222202"/>
            <a:ext cx="3197945" cy="840077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8"/>
          <p:cNvSpPr/>
          <p:nvPr/>
        </p:nvSpPr>
        <p:spPr>
          <a:xfrm>
            <a:off x="5582459" y="1476736"/>
            <a:ext cx="2884065" cy="3851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Complete pipeline: train → 4 test sets → horizon → regression → Granger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5525674" y="1281677"/>
            <a:ext cx="1880429" cy="265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📓  Modeling Notebook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5674" y="1782930"/>
            <a:ext cx="3185640" cy="79892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8"/>
          <p:cNvSpPr/>
          <p:nvPr/>
        </p:nvSpPr>
        <p:spPr>
          <a:xfrm>
            <a:off x="5761599" y="1847250"/>
            <a:ext cx="2216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🖥  Live Dashboard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5686682" y="2051401"/>
            <a:ext cx="29544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Streamlit app: COVID (238 countries) + RSV (AUS + NZ) + traffic light advisory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7982" y="2317807"/>
            <a:ext cx="3185639" cy="76828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8"/>
          <p:cNvSpPr/>
          <p:nvPr/>
        </p:nvSpPr>
        <p:spPr>
          <a:xfrm>
            <a:off x="5963389" y="2410883"/>
            <a:ext cx="13143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📄  Final Report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6003269" y="2602102"/>
            <a:ext cx="2919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Methodology · results · limitations · stakeholder impact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5037286" y="842638"/>
            <a:ext cx="1480457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Final Deliverable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5037285" y="3286352"/>
            <a:ext cx="1480458" cy="228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Remaining Work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3498" y="3253891"/>
            <a:ext cx="969992" cy="27636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300" name="Google Shape;300;p8"/>
          <p:cNvSpPr txBox="1"/>
          <p:nvPr/>
        </p:nvSpPr>
        <p:spPr>
          <a:xfrm>
            <a:off x="6832628" y="3284031"/>
            <a:ext cx="61506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5047753" y="3694608"/>
            <a:ext cx="1480458" cy="228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8306" y="4022173"/>
            <a:ext cx="3262773" cy="768282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8"/>
          <p:cNvSpPr txBox="1"/>
          <p:nvPr/>
        </p:nvSpPr>
        <p:spPr>
          <a:xfrm>
            <a:off x="5509520" y="4235575"/>
            <a:ext cx="30003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Extend to non-respiratory diseases (dengue, measles) to test the limits of cross-disease generalization.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9a84c8f8a_5_30"/>
          <p:cNvSpPr/>
          <p:nvPr/>
        </p:nvSpPr>
        <p:spPr>
          <a:xfrm>
            <a:off x="2340545" y="2023040"/>
            <a:ext cx="7680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lang="en-US" sz="5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2026-04-27T02:24:15Z</dcterms:created>
  <dc:creator>Jayesh Sawarkar, Roshni More, Insha Maniyar</dc:creator>
</cp:coreProperties>
</file>